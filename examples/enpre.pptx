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quarto-dev/quarto-cli/issues/13372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Presentation Example (English)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2024-02-22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 </a:t>
            </a:r>
            <a:r>
              <a:rPr b="1"/>
              <a:t>long</a:t>
            </a:r>
            <a:r>
              <a:rPr/>
              <a:t> long long long </a:t>
            </a:r>
            <a:r>
              <a:rPr i="1"/>
              <a:t>long long long</a:t>
            </a:r>
            <a:r>
              <a:rPr/>
              <a:t> long long long long long long long long long long long long long long long long long long sentence.</a:t>
            </a:r>
          </a:p>
          <a:p>
            <a:pPr lvl="0" indent="0" marL="0">
              <a:buNone/>
            </a:pPr>
            <a:r>
              <a:rPr/>
              <a:t>long long long long long long long long long long long long long long long long long long long long long long long long long long long paragraph.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left bar.</a:t>
            </a:r>
          </a:p>
          <a:p>
            <a:pPr lvl="0"/>
            <a:r>
              <a:rPr/>
              <a:t>narrow narrow narrow narrow narrow narrow narrow narrow narrow narrow narrow narrow left bar.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right bar.</a:t>
            </a:r>
          </a:p>
          <a:p>
            <a:pPr lvl="0"/>
            <a:r>
              <a:rPr/>
              <a:t>wide wide wide wide wide wide wide wide wide wide wide wide wide wide wide wide wide right bar.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compact list.</a:t>
                </a:r>
              </a:p>
              <a:p>
                <a:pPr lvl="0" indent="0" marL="0">
                  <a:buNone/>
                </a:pPr>
                <a:r>
                  <a:rPr/>
                  <a:t>Wow.</a:t>
                </a:r>
              </a:p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sparse list.</a:t>
                </a:r>
              </a:p>
              <a:p>
                <a:pPr lvl="0" indent="0" marL="0">
                  <a:buNone/>
                </a:pPr>
                <a:r>
                  <a:rPr/>
                  <a:t>A definition list below.</a:t>
                </a:r>
              </a:p>
              <a:p>
                <a:pPr lvl="0" indent="0" marL="0">
                  <a:buNone/>
                </a:pPr>
                <a:r>
                  <a:rPr b="1"/>
                  <a:t>Reflexivity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∼</m:t>
                    </m:r>
                    <m:r>
                      <m:t>a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Antisymmetry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b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Transitivity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Blah [1, pp. 1, chapter 3, sec. 2, theorem 3]. Blah blah [1], [2]. Blah blah blah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B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#include</a:t>
            </a:r>
            <a:r>
              <a:rPr>
                <a:solidFill>
                  <a:srgbClr val="00769E"/>
                </a:solidFill>
                <a:latin typeface="Courier"/>
              </a:rPr>
              <a:t>&lt;bits/stdc++.h&gt;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using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namespace</a:t>
            </a:r>
            <a:r>
              <a:rPr>
                <a:solidFill>
                  <a:srgbClr val="003B4F"/>
                </a:solidFill>
                <a:latin typeface="Courier"/>
              </a:rPr>
              <a:t> std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br/>
            <a:br/>
            <a:r>
              <a:rPr>
                <a:solidFill>
                  <a:srgbClr val="AD0000"/>
                </a:solidFill>
                <a:latin typeface="Courier"/>
              </a:rPr>
              <a:t>int</a:t>
            </a:r>
            <a:r>
              <a:rPr>
                <a:solidFill>
                  <a:srgbClr val="003B4F"/>
                </a:solidFill>
                <a:latin typeface="Courier"/>
              </a:rPr>
              <a:t> main</a:t>
            </a:r>
            <a:r>
              <a:rPr>
                <a:solidFill>
                  <a:srgbClr val="5E5E5E"/>
                </a:solidFill>
                <a:latin typeface="Courier"/>
              </a:rPr>
              <a:t>(){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// 返回 0</a:t>
            </a:r>
            <a:br/>
            <a:r>
              <a:rPr>
                <a:solidFill>
                  <a:srgbClr val="5E5E5E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example</a:t>
            </a:r>
            <a:r>
              <a:rPr>
                <a:solidFill>
                  <a:srgbClr val="003B4F"/>
                </a:solidFill>
                <a:latin typeface="Courier"/>
              </a:rPr>
              <a:t> : (</a:t>
            </a:r>
            <a:r>
              <a:rPr b="1">
                <a:solidFill>
                  <a:srgbClr val="003B4F"/>
                </a:solidFill>
                <a:latin typeface="Courier"/>
              </a:rPr>
              <a:t>∀</a:t>
            </a:r>
            <a:r>
              <a:rPr>
                <a:solidFill>
                  <a:srgbClr val="003B4F"/>
                </a:solidFill>
                <a:latin typeface="Courier"/>
              </a:rPr>
              <a:t> x, p x → r) → ((</a:t>
            </a:r>
            <a:r>
              <a:rPr b="1">
                <a:solidFill>
                  <a:srgbClr val="003B4F"/>
                </a:solidFill>
                <a:latin typeface="Courier"/>
              </a:rPr>
              <a:t>∃</a:t>
            </a:r>
            <a:r>
              <a:rPr>
                <a:solidFill>
                  <a:srgbClr val="003B4F"/>
                </a:solidFill>
                <a:latin typeface="Courier"/>
              </a:rPr>
              <a:t> x, p x) → r) </a:t>
            </a:r>
            <a:r>
              <a:rPr>
                <a:solidFill>
                  <a:srgbClr val="5E5E5E"/>
                </a:solidFill>
                <a:latin typeface="Courier"/>
              </a:rPr>
              <a:t>:=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by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intro</a:t>
            </a:r>
            <a:r>
              <a:rPr>
                <a:solidFill>
                  <a:srgbClr val="003B4F"/>
                </a:solidFill>
                <a:latin typeface="Courier"/>
              </a:rPr>
              <a:t> h ⟨a, hpa⟩ </a:t>
            </a:r>
            <a:r>
              <a:rPr>
                <a:solidFill>
                  <a:srgbClr val="5E5E5E"/>
                </a:solidFill>
                <a:latin typeface="Courier"/>
              </a:rPr>
              <a:t>-- you may also `rcases` explicitly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exact</a:t>
            </a:r>
            <a:r>
              <a:rPr>
                <a:solidFill>
                  <a:srgbClr val="003B4F"/>
                </a:solidFill>
                <a:latin typeface="Courier"/>
              </a:rPr>
              <a:t> h a hpa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</a:t>
            </a:r>
          </a:p>
        </p:txBody>
      </p:sp>
      <p:pic>
        <p:nvPicPr>
          <p:cNvPr descr="fig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981200"/>
            <a:ext cx="6438900" cy="1676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508000" y="4013200"/>
            <a:ext cx="6438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This is a figure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Figure 1.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Beamer format temporarily disabled due to </a:t>
            </a:r>
            <a:r>
              <a:rPr>
                <a:hlinkClick r:id="rId2"/>
              </a:rPr>
              <a:t>Quarto Issue #13372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Complex side by side. (Figure 2, Figure 2 (a), Figure 2 (b))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2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Theorems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Theorem 1 (Test)</a:t>
                </a:r>
                <a:r>
                  <a:rPr/>
                  <a:t> This is a theorem.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φ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proof ended with a display math.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μ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]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really really really really really really really really really really really really really really really really really really really really long proof.</a:t>
                </a:r>
              </a:p>
              <a:p>
                <a:pPr lvl="0" indent="0" marL="0">
                  <a:buNone/>
                </a:pPr>
                <a:r>
                  <a:rPr b="1"/>
                  <a:t>Definition 1</a:t>
                </a:r>
                <a:r>
                  <a:rPr/>
                  <a:t> This is a definition.</a:t>
                </a:r>
              </a:p>
              <a:p>
                <a:pPr lvl="0" indent="0" marL="0">
                  <a:buNone/>
                </a:pPr>
                <a:r>
                  <a:rPr b="1"/>
                  <a:t>Example 1 (An example)</a:t>
                </a:r>
                <a:r>
                  <a:rPr/>
                  <a:t> This is an example.</a:t>
                </a:r>
              </a:p>
              <a:p>
                <a:pPr lvl="0" indent="0" marL="0">
                  <a:buNone/>
                </a:pPr>
                <a:r>
                  <a:rPr i="1"/>
                  <a:t>Solution</a:t>
                </a:r>
                <a:r>
                  <a:rPr/>
                  <a:t>. This is the solution to the example.</a:t>
                </a:r>
              </a:p>
              <a:p>
                <a:pPr lvl="0" indent="0" marL="0">
                  <a:buNone/>
                </a:pPr>
                <a:r>
                  <a:rPr b="1"/>
                  <a:t>Exercise 1</a:t>
                </a:r>
                <a:r>
                  <a:rPr/>
                  <a:t> This is an exercise.</a:t>
                </a:r>
              </a:p>
              <a:p>
                <a:pPr lvl="0" indent="0" marL="0">
                  <a:buNone/>
                </a:pPr>
                <a:r>
                  <a:rPr i="1"/>
                  <a:t>Remark</a:t>
                </a:r>
                <a:r>
                  <a:rPr/>
                  <a:t>. This is a remark of Exercise 1.</a:t>
                </a:r>
              </a:p>
              <a:p>
                <a:pPr lvl="0" indent="0" marL="0">
                  <a:buNone/>
                </a:pPr>
                <a:r>
                  <a:rPr b="1"/>
                  <a:t>Lemma 1</a:t>
                </a:r>
                <a:r>
                  <a:rPr/>
                  <a:t> This is a lemma.</a:t>
                </a:r>
              </a:p>
              <a:p>
                <a:pPr lvl="0" indent="0" marL="0">
                  <a:buNone/>
                </a:pPr>
                <a:r>
                  <a:rPr b="1"/>
                  <a:t>Corollary 1</a:t>
                </a:r>
                <a:r>
                  <a:rPr/>
                  <a:t> This is a corollary of Theorem 1.</a:t>
                </a:r>
              </a:p>
              <a:p>
                <a:pPr lvl="0" indent="0" marL="0">
                  <a:buNone/>
                </a:pPr>
                <a:r>
                  <a:rPr b="1"/>
                  <a:t>Proposition 1</a:t>
                </a:r>
                <a:r>
                  <a:rPr/>
                  <a:t> This is a proposition.</a:t>
                </a:r>
              </a:p>
              <a:p>
                <a:pPr lvl="0" indent="0" marL="0">
                  <a:buNone/>
                </a:pPr>
                <a:r>
                  <a:rPr b="1"/>
                  <a:t>Conjecture 1</a:t>
                </a:r>
                <a:r>
                  <a:rPr/>
                  <a:t> This is a conjecture.</a:t>
                </a:r>
              </a:p>
              <a:p>
                <a:pPr lvl="0" indent="0" marL="0">
                  <a:buNone/>
                </a:pPr>
                <a:r>
                  <a:rPr/>
                  <a:t>[1] Y. Taigman, M. Yang, M. Ranzato, and L. Wolf, “Closing the gap to human-level performance in face verification. deepface,” in </a:t>
                </a:r>
                <a:r>
                  <a:rPr i="1"/>
                  <a:t>Proceedings of the IEEE computer vision and pattern recognition (CVPR)</a:t>
                </a:r>
                <a:r>
                  <a:rPr/>
                  <a:t>, p. 6.</a:t>
                </a:r>
              </a:p>
              <a:p>
                <a:pPr lvl="0" indent="0" marL="0">
                  <a:buNone/>
                </a:pPr>
                <a:r>
                  <a:rPr/>
                  <a:t>[2] M. Turk and A. Pentland, “Eigenfaces for recognition,” </a:t>
                </a:r>
                <a:r>
                  <a:rPr i="1"/>
                  <a:t>Journal of Cognitive Neuroscience</a:t>
                </a:r>
                <a:r>
                  <a:rPr/>
                  <a:t>, vol. 3, no. 1, pp. 71–86.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This is a footnote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Example (English)</dc:title>
  <dc:creator>sun123zxy</dc:creator>
  <cp:keywords/>
  <dcterms:created xsi:type="dcterms:W3CDTF">2026-08-29T12:32:54Z</dcterms:created>
  <dcterms:modified xsi:type="dcterms:W3CDTF">2026-08-29T12:32:54Z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bibliography.bib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allouty-theorem">
    <vt:lpwstr/>
  </property>
  <property fmtid="{D5CDD505-2E9C-101B-9397-08002B2CF9AE}" pid="9" name="cap-location">
    <vt:lpwstr>bottom</vt:lpwstr>
  </property>
  <property fmtid="{D5CDD505-2E9C-101B-9397-08002B2CF9AE}" pid="10" name="csl">
    <vt:lpwstr>../_assets/ieee.csl</vt:lpwstr>
  </property>
  <property fmtid="{D5CDD505-2E9C-101B-9397-08002B2CF9AE}" pid="11" name="date">
    <vt:lpwstr>2024-02-22</vt:lpwstr>
  </property>
  <property fmtid="{D5CDD505-2E9C-101B-9397-08002B2CF9AE}" pid="12" name="date-modified">
    <vt:lpwstr>2024-02-22</vt:lpwstr>
  </property>
  <property fmtid="{D5CDD505-2E9C-101B-9397-08002B2CF9AE}" pid="13" name="header-includes">
    <vt:lpwstr/>
  </property>
  <property fmtid="{D5CDD505-2E9C-101B-9397-08002B2CF9AE}" pid="14" name="include-after">
    <vt:lpwstr/>
  </property>
  <property fmtid="{D5CDD505-2E9C-101B-9397-08002B2CF9AE}" pid="15" name="include-before">
    <vt:lpwstr/>
  </property>
  <property fmtid="{D5CDD505-2E9C-101B-9397-08002B2CF9AE}" pid="16" name="institute">
    <vt:lpwstr>SunQuarTeX</vt:lpwstr>
  </property>
  <property fmtid="{D5CDD505-2E9C-101B-9397-08002B2CF9AE}" pid="17" name="institutes">
    <vt:lpwstr/>
  </property>
  <property fmtid="{D5CDD505-2E9C-101B-9397-08002B2CF9AE}" pid="18" name="labels">
    <vt:lpwstr/>
  </property>
  <property fmtid="{D5CDD505-2E9C-101B-9397-08002B2CF9AE}" pid="19" name="number-depth">
    <vt:lpwstr>3</vt:lpwstr>
  </property>
  <property fmtid="{D5CDD505-2E9C-101B-9397-08002B2CF9AE}" pid="20" name="subtitle">
    <vt:lpwstr>SunQuarTeX Examples</vt:lpwstr>
  </property>
  <property fmtid="{D5CDD505-2E9C-101B-9397-08002B2CF9AE}" pid="21" name="toc-title">
    <vt:lpwstr>Table of contents</vt:lpwstr>
  </property>
</Properties>
</file>